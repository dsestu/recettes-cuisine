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Lst>
  <p:sldSz cy="6858000" cx="9144000"/>
  <p:notesSz cx="6735750" cy="98663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4" roundtripDataSignature="AMtx7miIDPK/66gVR5d1y0wHjlP+lvyl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7B4443-FDAF-4B40-80E9-CCAC54D983FE}">
  <a:tblStyle styleId="{497B4443-FDAF-4B40-80E9-CCAC54D983F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4"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22825" y="739950"/>
            <a:ext cx="4490700" cy="36998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3575" y="4686475"/>
            <a:ext cx="5388600" cy="443982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73575" y="4686475"/>
            <a:ext cx="5388600" cy="4439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3: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txBox="1"/>
          <p:nvPr>
            <p:ph idx="1" type="body"/>
          </p:nvPr>
        </p:nvSpPr>
        <p:spPr>
          <a:xfrm>
            <a:off x="673575" y="4686475"/>
            <a:ext cx="5388600" cy="4439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6: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73575" y="4686475"/>
            <a:ext cx="5388600" cy="44398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901700" y="739775"/>
            <a:ext cx="4932363" cy="3700463"/>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73c057b46_0_0:notes"/>
          <p:cNvSpPr txBox="1"/>
          <p:nvPr>
            <p:ph idx="1" type="body"/>
          </p:nvPr>
        </p:nvSpPr>
        <p:spPr>
          <a:xfrm>
            <a:off x="673575" y="4686475"/>
            <a:ext cx="5388600" cy="443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773c057b46_0_0:notes"/>
          <p:cNvSpPr/>
          <p:nvPr>
            <p:ph idx="2" type="sldImg"/>
          </p:nvPr>
        </p:nvSpPr>
        <p:spPr>
          <a:xfrm>
            <a:off x="901700" y="739775"/>
            <a:ext cx="4932300" cy="3700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73c057b46_0_11:notes"/>
          <p:cNvSpPr txBox="1"/>
          <p:nvPr>
            <p:ph idx="1" type="body"/>
          </p:nvPr>
        </p:nvSpPr>
        <p:spPr>
          <a:xfrm>
            <a:off x="673575" y="4686475"/>
            <a:ext cx="5388600" cy="443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3773c057b46_0_11:notes"/>
          <p:cNvSpPr/>
          <p:nvPr>
            <p:ph idx="2" type="sldImg"/>
          </p:nvPr>
        </p:nvSpPr>
        <p:spPr>
          <a:xfrm>
            <a:off x="901700" y="739775"/>
            <a:ext cx="4932300" cy="3700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773c057b46_0_22:notes"/>
          <p:cNvSpPr txBox="1"/>
          <p:nvPr>
            <p:ph idx="1" type="body"/>
          </p:nvPr>
        </p:nvSpPr>
        <p:spPr>
          <a:xfrm>
            <a:off x="673575" y="4686475"/>
            <a:ext cx="5388600" cy="4439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773c057b46_0_22:notes"/>
          <p:cNvSpPr/>
          <p:nvPr>
            <p:ph idx="2" type="sldImg"/>
          </p:nvPr>
        </p:nvSpPr>
        <p:spPr>
          <a:xfrm>
            <a:off x="901700" y="739775"/>
            <a:ext cx="4932300" cy="3700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b86a5d910_0_0:notes"/>
          <p:cNvSpPr/>
          <p:nvPr>
            <p:ph idx="2" type="sldImg"/>
          </p:nvPr>
        </p:nvSpPr>
        <p:spPr>
          <a:xfrm>
            <a:off x="1122825" y="739950"/>
            <a:ext cx="4490700" cy="36999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7b86a5d910_0_0:notes"/>
          <p:cNvSpPr txBox="1"/>
          <p:nvPr>
            <p:ph idx="1" type="body"/>
          </p:nvPr>
        </p:nvSpPr>
        <p:spPr>
          <a:xfrm>
            <a:off x="673575" y="4686475"/>
            <a:ext cx="5388600" cy="44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type="obj">
  <p:cSld name="OBJECT">
    <p:spTree>
      <p:nvGrpSpPr>
        <p:cNvPr id="11" name="Shape 11"/>
        <p:cNvGrpSpPr/>
        <p:nvPr/>
      </p:nvGrpSpPr>
      <p:grpSpPr>
        <a:xfrm>
          <a:off x="0" y="0"/>
          <a:ext cx="0" cy="0"/>
          <a:chOff x="0" y="0"/>
          <a:chExt cx="0" cy="0"/>
        </a:xfrm>
      </p:grpSpPr>
      <p:sp>
        <p:nvSpPr>
          <p:cNvPr id="12" name="Google Shape;12;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つのコンテンツ" type="twoObj">
  <p:cSld name="TWO_OBJECTS">
    <p:spTree>
      <p:nvGrpSpPr>
        <p:cNvPr id="17" name="Shape 17"/>
        <p:cNvGrpSpPr/>
        <p:nvPr/>
      </p:nvGrpSpPr>
      <p:grpSpPr>
        <a:xfrm>
          <a:off x="0" y="0"/>
          <a:ext cx="0" cy="0"/>
          <a:chOff x="0" y="0"/>
          <a:chExt cx="0" cy="0"/>
        </a:xfrm>
      </p:grpSpPr>
      <p:sp>
        <p:nvSpPr>
          <p:cNvPr id="18" name="Google Shape;18;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較" type="twoTxTwoObj">
  <p:cSld name="TWO_OBJECTS_WITH_TEXT">
    <p:spTree>
      <p:nvGrpSpPr>
        <p:cNvPr id="24" name="Shape 24"/>
        <p:cNvGrpSpPr/>
        <p:nvPr/>
      </p:nvGrpSpPr>
      <p:grpSpPr>
        <a:xfrm>
          <a:off x="0" y="0"/>
          <a:ext cx="0" cy="0"/>
          <a:chOff x="0" y="0"/>
          <a:chExt cx="0" cy="0"/>
        </a:xfrm>
      </p:grpSpPr>
      <p:sp>
        <p:nvSpPr>
          <p:cNvPr id="25" name="Google Shape;25;p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7" name="Google Shape;27;p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9" name="Google Shape;29;p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type="titleOnly">
  <p:cSld name="TITLE_ONLY">
    <p:spTree>
      <p:nvGrpSpPr>
        <p:cNvPr id="33" name="Shape 33"/>
        <p:cNvGrpSpPr/>
        <p:nvPr/>
      </p:nvGrpSpPr>
      <p:grpSpPr>
        <a:xfrm>
          <a:off x="0" y="0"/>
          <a:ext cx="0" cy="0"/>
          <a:chOff x="0" y="0"/>
          <a:chExt cx="0" cy="0"/>
        </a:xfrm>
      </p:grpSpPr>
      <p:sp>
        <p:nvSpPr>
          <p:cNvPr id="34" name="Google Shape;34;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白紙" type="blank">
  <p:cSld name="BLANK">
    <p:spTree>
      <p:nvGrpSpPr>
        <p:cNvPr id="38" name="Shape 38"/>
        <p:cNvGrpSpPr/>
        <p:nvPr/>
      </p:nvGrpSpPr>
      <p:grpSpPr>
        <a:xfrm>
          <a:off x="0" y="0"/>
          <a:ext cx="0" cy="0"/>
          <a:chOff x="0" y="0"/>
          <a:chExt cx="0" cy="0"/>
        </a:xfrm>
      </p:grpSpPr>
      <p:sp>
        <p:nvSpPr>
          <p:cNvPr id="39" name="Google Shape;39;p1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10;コンテンツ" type="objTx">
  <p:cSld name="OBJECT_WITH_CAPTION_TEXT">
    <p:spTree>
      <p:nvGrpSpPr>
        <p:cNvPr id="42" name="Shape 42"/>
        <p:cNvGrpSpPr/>
        <p:nvPr/>
      </p:nvGrpSpPr>
      <p:grpSpPr>
        <a:xfrm>
          <a:off x="0" y="0"/>
          <a:ext cx="0" cy="0"/>
          <a:chOff x="0" y="0"/>
          <a:chExt cx="0" cy="0"/>
        </a:xfrm>
      </p:grpSpPr>
      <p:sp>
        <p:nvSpPr>
          <p:cNvPr id="43" name="Google Shape;43;p1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2"/>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5" name="Google Shape;45;p12"/>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6" name="Google Shape;46;p1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付きの図" type="picTx">
  <p:cSld name="PICTURE_WITH_CAPTION_TEXT">
    <p:spTree>
      <p:nvGrpSpPr>
        <p:cNvPr id="49" name="Shape 49"/>
        <p:cNvGrpSpPr/>
        <p:nvPr/>
      </p:nvGrpSpPr>
      <p:grpSpPr>
        <a:xfrm>
          <a:off x="0" y="0"/>
          <a:ext cx="0" cy="0"/>
          <a:chOff x="0" y="0"/>
          <a:chExt cx="0" cy="0"/>
        </a:xfrm>
      </p:grpSpPr>
      <p:sp>
        <p:nvSpPr>
          <p:cNvPr id="50" name="Google Shape;50;p1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3"/>
          <p:cNvSpPr/>
          <p:nvPr>
            <p:ph idx="2" type="pic"/>
          </p:nvPr>
        </p:nvSpPr>
        <p:spPr>
          <a:xfrm>
            <a:off x="3887391" y="987426"/>
            <a:ext cx="4629150" cy="4873625"/>
          </a:xfrm>
          <a:prstGeom prst="rect">
            <a:avLst/>
          </a:prstGeom>
          <a:noFill/>
          <a:ln>
            <a:noFill/>
          </a:ln>
        </p:spPr>
      </p:sp>
      <p:sp>
        <p:nvSpPr>
          <p:cNvPr id="52" name="Google Shape;52;p1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 name="Google Shape;53;p1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10;縦書きテキスト" type="vertTx">
  <p:cSld name="VERTICAL_TEXT">
    <p:spTree>
      <p:nvGrpSpPr>
        <p:cNvPr id="56" name="Shape 56"/>
        <p:cNvGrpSpPr/>
        <p:nvPr/>
      </p:nvGrpSpPr>
      <p:grpSpPr>
        <a:xfrm>
          <a:off x="0" y="0"/>
          <a:ext cx="0" cy="0"/>
          <a:chOff x="0" y="0"/>
          <a:chExt cx="0" cy="0"/>
        </a:xfrm>
      </p:grpSpPr>
      <p:sp>
        <p:nvSpPr>
          <p:cNvPr id="57" name="Google Shape;57;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縦書きタイトルと&#10;縦書きテキスト" type="vertTitleAndTx">
  <p:cSld name="VERTICAL_TITLE_AND_VERTICAL_TEXT">
    <p:spTree>
      <p:nvGrpSpPr>
        <p:cNvPr id="62" name="Shape 62"/>
        <p:cNvGrpSpPr/>
        <p:nvPr/>
      </p:nvGrpSpPr>
      <p:grpSpPr>
        <a:xfrm>
          <a:off x="0" y="0"/>
          <a:ext cx="0" cy="0"/>
          <a:chOff x="0" y="0"/>
          <a:chExt cx="0" cy="0"/>
        </a:xfrm>
      </p:grpSpPr>
      <p:sp>
        <p:nvSpPr>
          <p:cNvPr id="63" name="Google Shape;63;p15"/>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1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73" name="Google Shape;73;p3"/>
          <p:cNvSpPr/>
          <p:nvPr/>
        </p:nvSpPr>
        <p:spPr>
          <a:xfrm>
            <a:off x="111095" y="136733"/>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4" name="Google Shape;74;p3"/>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75" name="Google Shape;75;p3"/>
          <p:cNvSpPr/>
          <p:nvPr/>
        </p:nvSpPr>
        <p:spPr>
          <a:xfrm>
            <a:off x="102549" y="104569"/>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1" sz="1800" u="none" cap="none" strike="noStrike">
              <a:solidFill>
                <a:schemeClr val="lt1"/>
              </a:solidFill>
              <a:latin typeface="Meiryo"/>
              <a:ea typeface="Meiryo"/>
              <a:cs typeface="Meiryo"/>
              <a:sym typeface="Meiryo"/>
            </a:endParaRPr>
          </a:p>
        </p:txBody>
      </p:sp>
      <p:sp>
        <p:nvSpPr>
          <p:cNvPr id="76" name="Google Shape;76;p3"/>
          <p:cNvSpPr txBox="1"/>
          <p:nvPr/>
        </p:nvSpPr>
        <p:spPr>
          <a:xfrm>
            <a:off x="111095" y="362447"/>
            <a:ext cx="3586286" cy="76941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Handmade　Ramen ①</a:t>
            </a:r>
            <a:endParaRPr b="0" i="0" sz="2400" u="none" cap="none" strike="noStrike">
              <a:solidFill>
                <a:srgbClr val="FFC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
          <p:cNvSpPr/>
          <p:nvPr/>
        </p:nvSpPr>
        <p:spPr>
          <a:xfrm>
            <a:off x="3799930" y="403286"/>
            <a:ext cx="1982496"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78" name="Google Shape;78;p3"/>
          <p:cNvSpPr/>
          <p:nvPr/>
        </p:nvSpPr>
        <p:spPr>
          <a:xfrm>
            <a:off x="3459750" y="1131850"/>
            <a:ext cx="5274600" cy="505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～Preparation～</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Boil water separately for blanching vegetables and for cooking noodles.</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1" i="0" lang="en-US" sz="1300" u="none" cap="none" strike="noStrike">
                <a:solidFill>
                  <a:schemeClr val="dk1"/>
                </a:solidFill>
                <a:latin typeface="Meiryo"/>
                <a:ea typeface="Meiryo"/>
                <a:cs typeface="Meiryo"/>
                <a:sym typeface="Meiryo"/>
              </a:rPr>
              <a:t>＜Directions for Noodle＞</a:t>
            </a:r>
            <a:br>
              <a:rPr b="0" i="0" lang="en-US" sz="1300" u="none" cap="none" strike="noStrike">
                <a:solidFill>
                  <a:schemeClr val="dk1"/>
                </a:solidFill>
                <a:latin typeface="Meiryo"/>
                <a:ea typeface="Meiryo"/>
                <a:cs typeface="Meiryo"/>
                <a:sym typeface="Meiryo"/>
              </a:rPr>
            </a:br>
            <a:r>
              <a:rPr lang="en-US" sz="1300">
                <a:solidFill>
                  <a:schemeClr val="dk1"/>
                </a:solidFill>
                <a:latin typeface="Meiryo"/>
                <a:ea typeface="Meiryo"/>
                <a:cs typeface="Meiryo"/>
                <a:sym typeface="Meiryo"/>
              </a:rPr>
              <a:t>1</a:t>
            </a:r>
            <a:r>
              <a:rPr b="0" i="0" lang="en-US" sz="1300" u="none" cap="none" strike="noStrike">
                <a:solidFill>
                  <a:schemeClr val="dk1"/>
                </a:solidFill>
                <a:latin typeface="Meiryo"/>
                <a:ea typeface="Meiryo"/>
                <a:cs typeface="Meiryo"/>
                <a:sym typeface="Meiryo"/>
              </a:rPr>
              <a:t>) </a:t>
            </a:r>
            <a:r>
              <a:rPr b="0" i="0" lang="en-US" sz="1300" u="none" cap="none" strike="noStrike">
                <a:solidFill>
                  <a:srgbClr val="0D0D0D"/>
                </a:solidFill>
                <a:highlight>
                  <a:srgbClr val="FFFFFF"/>
                </a:highlight>
                <a:latin typeface="Arial"/>
                <a:ea typeface="Arial"/>
                <a:cs typeface="Arial"/>
                <a:sym typeface="Arial"/>
              </a:rPr>
              <a:t>Place the dry ingredients in a bowl and mix them together.</a:t>
            </a:r>
            <a:endParaRPr b="0" i="0" sz="13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rgbClr val="0D0D0D"/>
              </a:solidFill>
              <a:highlight>
                <a:srgbClr val="FFFFFF"/>
              </a:highlight>
            </a:endParaRPr>
          </a:p>
          <a:p>
            <a:pPr indent="0" lvl="0" marL="0" marR="0" rtl="0" algn="l">
              <a:lnSpc>
                <a:spcPct val="100000"/>
              </a:lnSpc>
              <a:spcBef>
                <a:spcPts val="0"/>
              </a:spcBef>
              <a:spcAft>
                <a:spcPts val="0"/>
              </a:spcAft>
              <a:buNone/>
            </a:pPr>
            <a:r>
              <a:rPr lang="en-US" sz="1300">
                <a:solidFill>
                  <a:srgbClr val="0D0D0D"/>
                </a:solidFill>
                <a:highlight>
                  <a:srgbClr val="FFFFFF"/>
                </a:highlight>
              </a:rPr>
              <a:t>2</a:t>
            </a:r>
            <a:r>
              <a:rPr b="0" i="0" lang="en-US" sz="1300" u="none" cap="none" strike="noStrike">
                <a:solidFill>
                  <a:srgbClr val="0D0D0D"/>
                </a:solidFill>
                <a:highlight>
                  <a:srgbClr val="FFFFFF"/>
                </a:highlight>
                <a:latin typeface="Arial"/>
                <a:ea typeface="Arial"/>
                <a:cs typeface="Arial"/>
                <a:sym typeface="Arial"/>
              </a:rPr>
              <a:t>) Gradually add water and mix until small lumps start to form. As the lumps begin to come together, start to gather the dough. At this point, it's okay to feel like the mixture might be a bit dry.</a:t>
            </a:r>
            <a:endParaRPr b="0" i="0" sz="13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rgbClr val="0D0D0D"/>
              </a:solidFill>
              <a:highlight>
                <a:srgbClr val="FFFFFF"/>
              </a:highlight>
            </a:endParaRPr>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3) Once the dough has come together, knead it by hand until the surface becomes</a:t>
            </a:r>
            <a:r>
              <a:rPr lang="en-US" sz="1300">
                <a:solidFill>
                  <a:srgbClr val="0D0D0D"/>
                </a:solidFill>
                <a:highlight>
                  <a:srgbClr val="FFFFFF"/>
                </a:highlight>
              </a:rPr>
              <a:t> </a:t>
            </a:r>
            <a:r>
              <a:rPr b="0" i="0" lang="en-US" sz="1300" u="none" cap="none" strike="noStrike">
                <a:solidFill>
                  <a:srgbClr val="0D0D0D"/>
                </a:solidFill>
                <a:highlight>
                  <a:srgbClr val="FFFFFF"/>
                </a:highlight>
                <a:latin typeface="Arial"/>
                <a:ea typeface="Arial"/>
                <a:cs typeface="Arial"/>
                <a:sym typeface="Arial"/>
              </a:rPr>
              <a:t>shiny, and the dough is uniform.</a:t>
            </a:r>
            <a:endParaRPr b="0" i="0" sz="13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rgbClr val="0D0D0D"/>
              </a:solidFill>
              <a:highlight>
                <a:srgbClr val="FFFFFF"/>
              </a:highlight>
            </a:endParaRPr>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4) Dust the bowl with flour, cover the dough with  plastic wrap to prevent drying, and let it rest for about 30 minutes.</a:t>
            </a:r>
            <a:endParaRPr b="0" i="0" sz="13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rgbClr val="0D0D0D"/>
              </a:solidFill>
              <a:highlight>
                <a:srgbClr val="FFFFFF"/>
              </a:highlight>
            </a:endParaRPr>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5) Dust both the cutting board and the rolling pin with flour, then roll out the dough to a rectangle (approximately 30x12 cm).</a:t>
            </a:r>
            <a:endParaRPr b="0" i="0" sz="13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sz="1300">
              <a:solidFill>
                <a:srgbClr val="0D0D0D"/>
              </a:solidFill>
              <a:highlight>
                <a:srgbClr val="FFFFFF"/>
              </a:highlight>
            </a:endParaRPr>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6) Dust the dough again, fold it, and cut into 2mm wide noodles with a knife.</a:t>
            </a:r>
            <a:endParaRPr sz="1300">
              <a:solidFill>
                <a:srgbClr val="0D0D0D"/>
              </a:solidFill>
              <a:highlight>
                <a:srgbClr val="FFFFFF"/>
              </a:highlight>
            </a:endParaRPr>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7) Dust the noodles once more, gather them into a bundle, and then knead them to create a wavy texture in the noodles.</a:t>
            </a:r>
            <a:endParaRPr sz="1300"/>
          </a:p>
          <a:p>
            <a:pPr indent="0" lvl="0" marL="0" marR="0" rtl="0" algn="l">
              <a:lnSpc>
                <a:spcPct val="100000"/>
              </a:lnSpc>
              <a:spcBef>
                <a:spcPts val="0"/>
              </a:spcBef>
              <a:spcAft>
                <a:spcPts val="0"/>
              </a:spcAft>
              <a:buNone/>
            </a:pPr>
            <a:r>
              <a:rPr b="0" i="0" lang="en-US" sz="1300" u="none" cap="none" strike="noStrike">
                <a:solidFill>
                  <a:srgbClr val="0D0D0D"/>
                </a:solidFill>
                <a:highlight>
                  <a:srgbClr val="FFFFFF"/>
                </a:highlight>
                <a:latin typeface="Arial"/>
                <a:ea typeface="Arial"/>
                <a:cs typeface="Arial"/>
                <a:sym typeface="Arial"/>
              </a:rPr>
              <a:t>8) Cook the noodles in boiling water for 5 to 6 minutes.</a:t>
            </a:r>
            <a:endParaRPr sz="1300"/>
          </a:p>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graphicFrame>
        <p:nvGraphicFramePr>
          <p:cNvPr id="79" name="Google Shape;79;p3"/>
          <p:cNvGraphicFramePr/>
          <p:nvPr/>
        </p:nvGraphicFramePr>
        <p:xfrm>
          <a:off x="331884" y="1429724"/>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lang="en-US" sz="1100" u="none" cap="none" strike="noStrike">
                          <a:latin typeface="Arial"/>
                          <a:ea typeface="Arial"/>
                          <a:cs typeface="Arial"/>
                          <a:sym typeface="Arial"/>
                        </a:rPr>
                        <a:t>Bread flour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200g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Alkaline water powder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US" sz="1100" u="none" cap="none" strike="noStrike">
                          <a:solidFill>
                            <a:srgbClr val="000000"/>
                          </a:solidFill>
                          <a:latin typeface="Arial"/>
                          <a:ea typeface="Arial"/>
                          <a:cs typeface="Arial"/>
                          <a:sym typeface="Arial"/>
                        </a:rPr>
                        <a:t> </a:t>
                      </a:r>
                      <a:r>
                        <a:rPr lang="en-US" sz="1100"/>
                        <a:t>½</a:t>
                      </a:r>
                      <a:r>
                        <a:rPr b="0" i="0" lang="en-US" sz="1100" u="none" cap="none" strike="noStrike">
                          <a:solidFill>
                            <a:srgbClr val="000000"/>
                          </a:solidFill>
                          <a:latin typeface="Arial"/>
                          <a:ea typeface="Arial"/>
                          <a:cs typeface="Arial"/>
                          <a:sym typeface="Arial"/>
                        </a:rPr>
                        <a:t> tsp</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Salt</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Water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cc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Dusting flour</a:t>
                      </a:r>
                      <a:br>
                        <a:rPr lang="en-US" sz="1100" u="none" cap="none" strike="noStrike">
                          <a:latin typeface="Arial"/>
                          <a:ea typeface="Arial"/>
                          <a:cs typeface="Arial"/>
                          <a:sym typeface="Arial"/>
                        </a:rPr>
                      </a:br>
                      <a:r>
                        <a:rPr lang="en-US" sz="1100" u="none" cap="none" strike="noStrike">
                          <a:latin typeface="Arial"/>
                          <a:ea typeface="Arial"/>
                          <a:cs typeface="Arial"/>
                          <a:sym typeface="Arial"/>
                        </a:rPr>
                        <a:t>(Cornstarch)</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As needed</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6"/>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85" name="Google Shape;85;p6"/>
          <p:cNvSpPr/>
          <p:nvPr/>
        </p:nvSpPr>
        <p:spPr>
          <a:xfrm>
            <a:off x="111095" y="136733"/>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6" name="Google Shape;86;p6"/>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87" name="Google Shape;87;p6"/>
          <p:cNvSpPr/>
          <p:nvPr/>
        </p:nvSpPr>
        <p:spPr>
          <a:xfrm>
            <a:off x="102549" y="104569"/>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Meiryo"/>
              <a:ea typeface="Meiryo"/>
              <a:cs typeface="Meiryo"/>
              <a:sym typeface="Meiryo"/>
            </a:endParaRPr>
          </a:p>
        </p:txBody>
      </p:sp>
      <p:sp>
        <p:nvSpPr>
          <p:cNvPr id="88" name="Google Shape;88;p6"/>
          <p:cNvSpPr/>
          <p:nvPr/>
        </p:nvSpPr>
        <p:spPr>
          <a:xfrm>
            <a:off x="3697381" y="450589"/>
            <a:ext cx="1982496"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89" name="Google Shape;89;p6"/>
          <p:cNvSpPr/>
          <p:nvPr/>
        </p:nvSpPr>
        <p:spPr>
          <a:xfrm>
            <a:off x="3459748" y="1357572"/>
            <a:ext cx="5485008" cy="33239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～Preparation～</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Grate the garlic in advance.</a:t>
            </a:r>
            <a:endParaRPr/>
          </a:p>
          <a:p>
            <a:pPr indent="0" lvl="0" marL="0" marR="0" rtl="0" algn="l">
              <a:lnSpc>
                <a:spcPct val="100000"/>
              </a:lnSpc>
              <a:spcBef>
                <a:spcPts val="0"/>
              </a:spcBef>
              <a:spcAft>
                <a:spcPts val="0"/>
              </a:spcAft>
              <a:buNone/>
            </a:pPr>
            <a:r>
              <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＜Directions＞</a:t>
            </a:r>
            <a:br>
              <a:rPr b="0" i="0" lang="en-US" sz="1050" u="none" cap="none" strike="noStrike">
                <a:solidFill>
                  <a:schemeClr val="dk1"/>
                </a:solidFill>
                <a:latin typeface="Meiryo"/>
                <a:ea typeface="Meiryo"/>
                <a:cs typeface="Meiryo"/>
                <a:sym typeface="Meiryo"/>
              </a:rPr>
            </a:br>
            <a:r>
              <a:rPr b="0" i="0" lang="en-US" sz="1400" u="none" cap="none" strike="noStrike">
                <a:solidFill>
                  <a:srgbClr val="0D0D0D"/>
                </a:solidFill>
                <a:highlight>
                  <a:srgbClr val="FFFFFF"/>
                </a:highlight>
                <a:latin typeface="Arial"/>
                <a:ea typeface="Arial"/>
                <a:cs typeface="Arial"/>
                <a:sym typeface="Arial"/>
              </a:rPr>
              <a:t>1) Place Sugar, sake, soy sauce, mayonnaise, and garlic into the rice cooker and mix well.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2) Pierce the pork belly block with a fork, and place it into the rice cooker with the fat side down. If the block is large, cut it in half to make it easier to cook through.</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3) Turn on the rice cooker using the regular cooking mode and start.</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4) Flip the meat halfway through to ensure the flavors are evenly absorbed.</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lang="en-US">
                <a:solidFill>
                  <a:srgbClr val="0D0D0D"/>
                </a:solidFill>
                <a:highlight>
                  <a:srgbClr val="FFFFFF"/>
                </a:highlight>
              </a:rPr>
              <a:t>5</a:t>
            </a:r>
            <a:r>
              <a:rPr b="0" i="0" lang="en-US" sz="1400" u="none" cap="none" strike="noStrike">
                <a:solidFill>
                  <a:srgbClr val="0D0D0D"/>
                </a:solidFill>
                <a:highlight>
                  <a:srgbClr val="FFFFFF"/>
                </a:highlight>
                <a:latin typeface="Arial"/>
                <a:ea typeface="Arial"/>
                <a:cs typeface="Arial"/>
                <a:sym typeface="Arial"/>
              </a:rPr>
              <a:t>) Once the char siu is ready, sear it with a torch and  cut into bite-sized pieces.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90" name="Google Shape;90;p6"/>
          <p:cNvGraphicFramePr/>
          <p:nvPr/>
        </p:nvGraphicFramePr>
        <p:xfrm>
          <a:off x="331884" y="1468646"/>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lang="en-US" sz="1100" u="none" cap="none" strike="noStrike">
                          <a:latin typeface="Arial"/>
                          <a:ea typeface="Arial"/>
                          <a:cs typeface="Arial"/>
                          <a:sym typeface="Arial"/>
                        </a:rPr>
                        <a:t>Pork belly block</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160 g</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Sugar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US" sz="1100" u="none" cap="none" strike="noStrike">
                          <a:solidFill>
                            <a:srgbClr val="000000"/>
                          </a:solidFill>
                          <a:latin typeface="Arial"/>
                          <a:ea typeface="Arial"/>
                          <a:cs typeface="Arial"/>
                          <a:sym typeface="Arial"/>
                        </a:rPr>
                        <a:t>2 tbsp</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Sake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tbsp</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Soy sauce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tbsp</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Mayonnaise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2.5 g</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91" name="Google Shape;91;p6"/>
          <p:cNvSpPr txBox="1"/>
          <p:nvPr/>
        </p:nvSpPr>
        <p:spPr>
          <a:xfrm>
            <a:off x="111095" y="362447"/>
            <a:ext cx="3349121" cy="76941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Seared Char Siu Pork</a:t>
            </a:r>
            <a:endParaRPr b="0" i="0" sz="2400" u="none" cap="none" strike="noStrike">
              <a:solidFill>
                <a:srgbClr val="FFC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111095" y="136733"/>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8" name="Google Shape;98;p2"/>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99" name="Google Shape;99;p2"/>
          <p:cNvSpPr/>
          <p:nvPr/>
        </p:nvSpPr>
        <p:spPr>
          <a:xfrm>
            <a:off x="102549" y="104569"/>
            <a:ext cx="8938901" cy="65717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lt1"/>
                </a:solidFill>
                <a:latin typeface="Meiryo"/>
                <a:ea typeface="Meiryo"/>
                <a:cs typeface="Meiryo"/>
                <a:sym typeface="Meiryo"/>
              </a:rPr>
              <a:t>Plea</a:t>
            </a:r>
            <a:endParaRPr b="0" i="0" sz="1800" u="none" cap="none" strike="noStrike">
              <a:solidFill>
                <a:schemeClr val="lt1"/>
              </a:solidFill>
              <a:latin typeface="Meiryo"/>
              <a:ea typeface="Meiryo"/>
              <a:cs typeface="Meiryo"/>
              <a:sym typeface="Meiryo"/>
            </a:endParaRPr>
          </a:p>
        </p:txBody>
      </p:sp>
      <p:sp>
        <p:nvSpPr>
          <p:cNvPr id="100" name="Google Shape;100;p2"/>
          <p:cNvSpPr/>
          <p:nvPr/>
        </p:nvSpPr>
        <p:spPr>
          <a:xfrm>
            <a:off x="3697381" y="450589"/>
            <a:ext cx="1982496"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101" name="Google Shape;101;p2"/>
          <p:cNvSpPr/>
          <p:nvPr/>
        </p:nvSpPr>
        <p:spPr>
          <a:xfrm>
            <a:off x="3459748" y="1357572"/>
            <a:ext cx="5485008" cy="35393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＜Directions for Topping and Soup＞</a:t>
            </a:r>
            <a:br>
              <a:rPr b="0" i="0" lang="en-US" sz="1050" u="none" cap="none" strike="noStrike">
                <a:solidFill>
                  <a:schemeClr val="dk1"/>
                </a:solidFill>
                <a:latin typeface="Meiryo"/>
                <a:ea typeface="Meiryo"/>
                <a:cs typeface="Meiryo"/>
                <a:sym typeface="Meiryo"/>
              </a:rPr>
            </a:br>
            <a:r>
              <a:rPr b="0" i="0" lang="en-US" sz="1400" u="none" cap="none" strike="noStrike">
                <a:solidFill>
                  <a:srgbClr val="0D0D0D"/>
                </a:solidFill>
                <a:highlight>
                  <a:srgbClr val="FFFFFF"/>
                </a:highlight>
                <a:latin typeface="Arial"/>
                <a:ea typeface="Arial"/>
                <a:cs typeface="Arial"/>
                <a:sym typeface="Arial"/>
              </a:rPr>
              <a:t>1) Cut the cabbage into strips, separating the core and leafy parts. If using raw garlic, grate for use in the soup and mince for topping.</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2) In a large pot, combine sake, mirin, soy sauce, and salt, then bring to a boil to evaporate the alcohol.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3) To the pot from step 2, add garlic, ginger, Chinese soup stock, and water, then bring to a boil.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4) Once the water is boiling, add the cabbage core and cook for 30 seconds, then add the cabbage leaves and bean sprouts and cook for another 30 seconds before draining them in a colander.</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5) While the noodles are boiling, place lard in each bowl, and pour the soup over them to pre-season.</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6) When the noodles are cooked, divide them into the bowls, and top with cabbage, bean sprouts, the minced garlic for topping, and char siu pork to finish.</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7) Please sprinkle Ajinomoto to taste.</a:t>
            </a:r>
            <a:endParaRPr b="0" i="0" sz="1400" u="none" cap="none" strike="noStrike">
              <a:solidFill>
                <a:srgbClr val="000000"/>
              </a:solidFill>
              <a:latin typeface="Arial"/>
              <a:ea typeface="Arial"/>
              <a:cs typeface="Arial"/>
              <a:sym typeface="Arial"/>
            </a:endParaRPr>
          </a:p>
        </p:txBody>
      </p:sp>
      <p:graphicFrame>
        <p:nvGraphicFramePr>
          <p:cNvPr id="102" name="Google Shape;102;p2"/>
          <p:cNvGraphicFramePr/>
          <p:nvPr/>
        </p:nvGraphicFramePr>
        <p:xfrm>
          <a:off x="331884" y="1468646"/>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lang="en-US" sz="1100" u="none" cap="none" strike="noStrike">
                          <a:latin typeface="Arial"/>
                          <a:ea typeface="Arial"/>
                          <a:cs typeface="Arial"/>
                          <a:sym typeface="Arial"/>
                        </a:rPr>
                        <a:t>● Topping</a:t>
                      </a:r>
                      <a:endParaRPr b="0"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000000"/>
                          </a:solidFill>
                          <a:latin typeface="Arial"/>
                          <a:ea typeface="Arial"/>
                          <a:cs typeface="Arial"/>
                          <a:sym typeface="Arial"/>
                        </a:rPr>
                        <a:t>Bean sprouts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Cabbage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US" sz="1100" u="none" cap="none" strike="noStrike">
                          <a:solidFill>
                            <a:srgbClr val="000000"/>
                          </a:solidFill>
                          <a:latin typeface="Arial"/>
                          <a:ea typeface="Arial"/>
                          <a:cs typeface="Arial"/>
                          <a:sym typeface="Arial"/>
                        </a:rPr>
                        <a:t>250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100" u="none" cap="none" strike="noStrike">
                          <a:latin typeface="Arial"/>
                          <a:ea typeface="Arial"/>
                          <a:cs typeface="Arial"/>
                          <a:sym typeface="Arial"/>
                        </a:rPr>
                        <a:t>20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 Soup</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Sake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30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Mirin</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Soy sauce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Salt</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Ginger grated or paste (from a tube)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Chinese soup stock</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6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Water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850 cc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Lard</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25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Ajinomoto</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To taste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03" name="Google Shape;103;p2"/>
          <p:cNvSpPr txBox="1"/>
          <p:nvPr/>
        </p:nvSpPr>
        <p:spPr>
          <a:xfrm>
            <a:off x="111095" y="362447"/>
            <a:ext cx="3586286" cy="769411"/>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Handmade　Ramen ②</a:t>
            </a:r>
            <a:endParaRPr b="0" i="0" sz="2400" u="none" cap="none" strike="noStrike">
              <a:solidFill>
                <a:srgbClr val="FFC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73c057b46_0_0"/>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109" name="Google Shape;109;g3773c057b46_0_0"/>
          <p:cNvSpPr/>
          <p:nvPr/>
        </p:nvSpPr>
        <p:spPr>
          <a:xfrm>
            <a:off x="111095" y="136733"/>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10" name="Google Shape;110;g3773c057b46_0_0"/>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111" name="Google Shape;111;g3773c057b46_0_0"/>
          <p:cNvSpPr/>
          <p:nvPr/>
        </p:nvSpPr>
        <p:spPr>
          <a:xfrm>
            <a:off x="102549" y="104569"/>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Meiryo"/>
              <a:ea typeface="Meiryo"/>
              <a:cs typeface="Meiryo"/>
              <a:sym typeface="Meiryo"/>
            </a:endParaRPr>
          </a:p>
        </p:txBody>
      </p:sp>
      <p:sp>
        <p:nvSpPr>
          <p:cNvPr id="112" name="Google Shape;112;g3773c057b46_0_0"/>
          <p:cNvSpPr txBox="1"/>
          <p:nvPr/>
        </p:nvSpPr>
        <p:spPr>
          <a:xfrm>
            <a:off x="111095" y="362447"/>
            <a:ext cx="3586200" cy="100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Handmade　Ramen ①</a:t>
            </a:r>
            <a:endParaRPr b="0" i="0" sz="2400" u="none" cap="none" strike="noStrike">
              <a:solidFill>
                <a:srgbClr val="FFC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2400"/>
              <a:buFont typeface="Arial"/>
              <a:buNone/>
            </a:pPr>
            <a:r>
              <a:rPr lang="en-US" sz="1500">
                <a:solidFill>
                  <a:srgbClr val="FFC000"/>
                </a:solidFill>
                <a:latin typeface="Meiryo"/>
                <a:ea typeface="Meiryo"/>
                <a:cs typeface="Meiryo"/>
                <a:sym typeface="Meiryo"/>
              </a:rPr>
              <a:t>~Vegetarian version~</a:t>
            </a:r>
            <a:endParaRPr sz="1500">
              <a:solidFill>
                <a:srgbClr val="FFC000"/>
              </a:solidFill>
              <a:latin typeface="Meiryo"/>
              <a:ea typeface="Meiryo"/>
              <a:cs typeface="Meiryo"/>
              <a:sym typeface="Meiry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3773c057b46_0_0"/>
          <p:cNvSpPr/>
          <p:nvPr/>
        </p:nvSpPr>
        <p:spPr>
          <a:xfrm>
            <a:off x="3799925" y="403275"/>
            <a:ext cx="1958100" cy="381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114" name="Google Shape;114;g3773c057b46_0_0"/>
          <p:cNvSpPr/>
          <p:nvPr/>
        </p:nvSpPr>
        <p:spPr>
          <a:xfrm>
            <a:off x="3459748" y="1357572"/>
            <a:ext cx="5484900" cy="440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～Preparation～</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Boil water separately for blanching vegetables and for cooking noodles.</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＜Directions for Noodle＞</a:t>
            </a:r>
            <a:br>
              <a:rPr b="0" i="0" lang="en-US" sz="1050" u="none" cap="none" strike="noStrike">
                <a:solidFill>
                  <a:schemeClr val="dk1"/>
                </a:solidFill>
                <a:latin typeface="Meiryo"/>
                <a:ea typeface="Meiryo"/>
                <a:cs typeface="Meiryo"/>
                <a:sym typeface="Meiryo"/>
              </a:rPr>
            </a:br>
            <a:r>
              <a:rPr b="0" i="0" lang="en-US" sz="1100" u="none" cap="none" strike="noStrike">
                <a:solidFill>
                  <a:schemeClr val="dk1"/>
                </a:solidFill>
                <a:latin typeface="Meiryo"/>
                <a:ea typeface="Meiryo"/>
                <a:cs typeface="Meiryo"/>
                <a:sym typeface="Meiryo"/>
              </a:rPr>
              <a:t>1) </a:t>
            </a:r>
            <a:r>
              <a:rPr b="0" i="0" lang="en-US" sz="1400" u="none" cap="none" strike="noStrike">
                <a:solidFill>
                  <a:srgbClr val="0D0D0D"/>
                </a:solidFill>
                <a:highlight>
                  <a:srgbClr val="FFFFFF"/>
                </a:highlight>
                <a:latin typeface="Arial"/>
                <a:ea typeface="Arial"/>
                <a:cs typeface="Arial"/>
                <a:sym typeface="Arial"/>
              </a:rPr>
              <a:t>Place the dry ingredients in a bowl and mix them together.</a:t>
            </a:r>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2) Gradually add water and mix until small lumps start to form. As the lumps begin to come together, start to gather the dough. At this point, it's okay to feel like the mixture might be a bit dry.</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3) Once the dough has come together, knead it by hand until the surface becomes</a:t>
            </a:r>
            <a:r>
              <a:rPr lang="en-US">
                <a:solidFill>
                  <a:srgbClr val="0D0D0D"/>
                </a:solidFill>
                <a:highlight>
                  <a:srgbClr val="FFFFFF"/>
                </a:highlight>
              </a:rPr>
              <a:t> </a:t>
            </a:r>
            <a:r>
              <a:rPr b="0" i="0" lang="en-US" sz="1400" u="none" cap="none" strike="noStrike">
                <a:solidFill>
                  <a:srgbClr val="0D0D0D"/>
                </a:solidFill>
                <a:highlight>
                  <a:srgbClr val="FFFFFF"/>
                </a:highlight>
                <a:latin typeface="Arial"/>
                <a:ea typeface="Arial"/>
                <a:cs typeface="Arial"/>
                <a:sym typeface="Arial"/>
              </a:rPr>
              <a:t>shiny, and the dough is uniform.</a:t>
            </a:r>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4) Dust the bowl with flour, cover the dough with  plastic wrap to prevent drying, and let it rest for about 30 minutes.</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5) Dust both the cutting board and the rolling pin with flour, then roll out the dough to a rectangle (approximately 30x12 cm).</a:t>
            </a:r>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6) Dust the dough again, fold it, and cut into 2mm wide noodles with a knife.</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7) Dust the noodles once more, gather them into a bundle, and then knead them to create a wavy texture in the noodles.</a:t>
            </a:r>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8) Cook the noodles in boiling water for 5 to 6 minutes.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15" name="Google Shape;115;g3773c057b46_0_0"/>
          <p:cNvGraphicFramePr/>
          <p:nvPr/>
        </p:nvGraphicFramePr>
        <p:xfrm>
          <a:off x="331884" y="1429724"/>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lang="en-US" sz="1100" u="none" cap="none" strike="noStrike">
                          <a:latin typeface="Arial"/>
                          <a:ea typeface="Arial"/>
                          <a:cs typeface="Arial"/>
                          <a:sym typeface="Arial"/>
                        </a:rPr>
                        <a:t>Bread flour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200g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a:t>Kansui powder (</a:t>
                      </a:r>
                      <a:r>
                        <a:rPr lang="en-US" sz="1100" u="none" cap="none" strike="noStrike">
                          <a:latin typeface="Arial"/>
                          <a:ea typeface="Arial"/>
                          <a:cs typeface="Arial"/>
                          <a:sym typeface="Arial"/>
                        </a:rPr>
                        <a:t>Alkaline water powder)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US" sz="1100" u="none" cap="none" strike="noStrike">
                          <a:solidFill>
                            <a:srgbClr val="000000"/>
                          </a:solidFill>
                          <a:latin typeface="Arial"/>
                          <a:ea typeface="Arial"/>
                          <a:cs typeface="Arial"/>
                          <a:sym typeface="Arial"/>
                        </a:rPr>
                        <a:t> </a:t>
                      </a:r>
                      <a:r>
                        <a:rPr lang="en-US" sz="1100"/>
                        <a:t>½</a:t>
                      </a:r>
                      <a:r>
                        <a:rPr b="0" i="0" lang="en-US" sz="1100" u="none" cap="none" strike="noStrike">
                          <a:solidFill>
                            <a:srgbClr val="000000"/>
                          </a:solidFill>
                          <a:latin typeface="Arial"/>
                          <a:ea typeface="Arial"/>
                          <a:cs typeface="Arial"/>
                          <a:sym typeface="Arial"/>
                        </a:rPr>
                        <a:t> tsp</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82525">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Salt</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Water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cc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Dusting flour</a:t>
                      </a:r>
                      <a:br>
                        <a:rPr lang="en-US" sz="1100" u="none" cap="none" strike="noStrike">
                          <a:latin typeface="Arial"/>
                          <a:ea typeface="Arial"/>
                          <a:cs typeface="Arial"/>
                          <a:sym typeface="Arial"/>
                        </a:rPr>
                      </a:br>
                      <a:r>
                        <a:rPr lang="en-US" sz="1100" u="none" cap="none" strike="noStrike">
                          <a:latin typeface="Arial"/>
                          <a:ea typeface="Arial"/>
                          <a:cs typeface="Arial"/>
                          <a:sym typeface="Arial"/>
                        </a:rPr>
                        <a:t>(Cornstarch)</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As needed</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773c057b46_0_11"/>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121" name="Google Shape;121;g3773c057b46_0_11"/>
          <p:cNvSpPr/>
          <p:nvPr/>
        </p:nvSpPr>
        <p:spPr>
          <a:xfrm>
            <a:off x="111095" y="136733"/>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2" name="Google Shape;122;g3773c057b46_0_11"/>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123" name="Google Shape;123;g3773c057b46_0_11"/>
          <p:cNvSpPr/>
          <p:nvPr/>
        </p:nvSpPr>
        <p:spPr>
          <a:xfrm>
            <a:off x="102549" y="104569"/>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Meiryo"/>
              <a:ea typeface="Meiryo"/>
              <a:cs typeface="Meiryo"/>
              <a:sym typeface="Meiryo"/>
            </a:endParaRPr>
          </a:p>
        </p:txBody>
      </p:sp>
      <p:sp>
        <p:nvSpPr>
          <p:cNvPr id="124" name="Google Shape;124;g3773c057b46_0_11"/>
          <p:cNvSpPr/>
          <p:nvPr/>
        </p:nvSpPr>
        <p:spPr>
          <a:xfrm>
            <a:off x="3697381" y="450589"/>
            <a:ext cx="19824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125" name="Google Shape;125;g3773c057b46_0_11"/>
          <p:cNvSpPr/>
          <p:nvPr/>
        </p:nvSpPr>
        <p:spPr>
          <a:xfrm>
            <a:off x="3459748" y="1357572"/>
            <a:ext cx="5484900" cy="332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～Preparation～</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Gra</a:t>
            </a:r>
            <a:r>
              <a:rPr lang="en-US">
                <a:solidFill>
                  <a:srgbClr val="0D0D0D"/>
                </a:solidFill>
                <a:highlight>
                  <a:srgbClr val="FFFFFF"/>
                </a:highlight>
              </a:rPr>
              <a:t>d</a:t>
            </a:r>
            <a:r>
              <a:rPr b="0" i="0" lang="en-US" sz="1400" u="none" cap="none" strike="noStrike">
                <a:solidFill>
                  <a:srgbClr val="0D0D0D"/>
                </a:solidFill>
                <a:highlight>
                  <a:srgbClr val="FFFFFF"/>
                </a:highlight>
                <a:latin typeface="Arial"/>
                <a:ea typeface="Arial"/>
                <a:cs typeface="Arial"/>
                <a:sym typeface="Arial"/>
              </a:rPr>
              <a:t>e the garlic in advance.</a:t>
            </a:r>
            <a:endParaRPr/>
          </a:p>
          <a:p>
            <a:pPr indent="0" lvl="0" marL="0" marR="0" rtl="0" algn="l">
              <a:lnSpc>
                <a:spcPct val="100000"/>
              </a:lnSpc>
              <a:spcBef>
                <a:spcPts val="0"/>
              </a:spcBef>
              <a:spcAft>
                <a:spcPts val="0"/>
              </a:spcAft>
              <a:buNone/>
            </a:pPr>
            <a:r>
              <a:t/>
            </a:r>
            <a:endParaRPr b="1"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＜Directions＞</a:t>
            </a:r>
            <a:br>
              <a:rPr b="0" i="0" lang="en-US" sz="1050" u="none" cap="none" strike="noStrike">
                <a:solidFill>
                  <a:schemeClr val="dk1"/>
                </a:solidFill>
                <a:latin typeface="Meiryo"/>
                <a:ea typeface="Meiryo"/>
                <a:cs typeface="Meiryo"/>
                <a:sym typeface="Meiryo"/>
              </a:rPr>
            </a:br>
            <a:r>
              <a:rPr b="0" i="0" lang="en-US" sz="1400" u="none" cap="none" strike="noStrike">
                <a:solidFill>
                  <a:srgbClr val="0D0D0D"/>
                </a:solidFill>
                <a:highlight>
                  <a:srgbClr val="FFFFFF"/>
                </a:highlight>
                <a:latin typeface="Arial"/>
                <a:ea typeface="Arial"/>
                <a:cs typeface="Arial"/>
                <a:sym typeface="Arial"/>
              </a:rPr>
              <a:t>1) Place Sugar, sake, soy sauce, mayonnaise, and garlic into the </a:t>
            </a:r>
            <a:r>
              <a:rPr lang="en-US">
                <a:solidFill>
                  <a:srgbClr val="0D0D0D"/>
                </a:solidFill>
                <a:highlight>
                  <a:srgbClr val="FFFFFF"/>
                </a:highlight>
              </a:rPr>
              <a:t>frying pan</a:t>
            </a:r>
            <a:r>
              <a:rPr b="0" i="0" lang="en-US" sz="1400" u="none" cap="none" strike="noStrike">
                <a:solidFill>
                  <a:srgbClr val="0D0D0D"/>
                </a:solidFill>
                <a:highlight>
                  <a:srgbClr val="FFFFFF"/>
                </a:highlight>
                <a:latin typeface="Arial"/>
                <a:ea typeface="Arial"/>
                <a:cs typeface="Arial"/>
                <a:sym typeface="Arial"/>
              </a:rPr>
              <a:t> and mix well.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2) </a:t>
            </a:r>
            <a:r>
              <a:rPr lang="en-US">
                <a:solidFill>
                  <a:srgbClr val="0D0D0D"/>
                </a:solidFill>
                <a:highlight>
                  <a:srgbClr val="FFFFFF"/>
                </a:highlight>
              </a:rPr>
              <a:t>Cut the fried Tofu into bite-size pieces. Then, put them in the frying pan.</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3) Heat in a frying pan for a few minutes, turning occasionally, until the flavors are absorbed.</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4) </a:t>
            </a:r>
            <a:r>
              <a:rPr lang="en-US">
                <a:solidFill>
                  <a:srgbClr val="0D0D0D"/>
                </a:solidFill>
                <a:highlight>
                  <a:schemeClr val="lt1"/>
                </a:highlight>
              </a:rPr>
              <a:t>Once the char siu is ready, sear it with a torch and  cut into bite-sized pieces.</a:t>
            </a:r>
            <a:endParaRPr>
              <a:solidFill>
                <a:srgbClr val="0D0D0D"/>
              </a:solidFill>
              <a:highlight>
                <a:srgbClr val="FFFFFF"/>
              </a:highlight>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126" name="Google Shape;126;g3773c057b46_0_11"/>
          <p:cNvGraphicFramePr/>
          <p:nvPr/>
        </p:nvGraphicFramePr>
        <p:xfrm>
          <a:off x="331884" y="1468646"/>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a:t>Fried Tofu</a:t>
                      </a:r>
                      <a:r>
                        <a:rPr b="0" lang="en-US" sz="1100" u="none" cap="none" strike="noStrike">
                          <a:latin typeface="Arial"/>
                          <a:ea typeface="Arial"/>
                          <a:cs typeface="Arial"/>
                          <a:sym typeface="Arial"/>
                        </a:rPr>
                        <a:t> block</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160 g</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Sugar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100"/>
                        <a:t>4 </a:t>
                      </a:r>
                      <a:r>
                        <a:rPr b="0" i="0" lang="en-US" sz="1100" u="none" cap="none" strike="noStrike">
                          <a:solidFill>
                            <a:srgbClr val="000000"/>
                          </a:solidFill>
                          <a:latin typeface="Arial"/>
                          <a:ea typeface="Arial"/>
                          <a:cs typeface="Arial"/>
                          <a:sym typeface="Arial"/>
                        </a:rPr>
                        <a:t> tbsp</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Sake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a:t>4 </a:t>
                      </a:r>
                      <a:r>
                        <a:rPr lang="en-US" sz="1100" u="none" cap="none" strike="noStrike">
                          <a:latin typeface="Arial"/>
                          <a:ea typeface="Arial"/>
                          <a:cs typeface="Arial"/>
                          <a:sym typeface="Arial"/>
                        </a:rPr>
                        <a:t> tbsp</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Soy sauce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a:t>2 </a:t>
                      </a:r>
                      <a:r>
                        <a:rPr lang="en-US" sz="1100" u="none" cap="none" strike="noStrike">
                          <a:latin typeface="Arial"/>
                          <a:ea typeface="Arial"/>
                          <a:cs typeface="Arial"/>
                          <a:sym typeface="Arial"/>
                        </a:rPr>
                        <a:t> tbsp</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Mayonnaise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5 g</a:t>
                      </a:r>
                      <a:endParaRPr sz="14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a:t>4</a:t>
                      </a:r>
                      <a:r>
                        <a:rPr lang="en-US" sz="1100" u="none" cap="none" strike="noStrike">
                          <a:latin typeface="Arial"/>
                          <a:ea typeface="Arial"/>
                          <a:cs typeface="Arial"/>
                          <a:sym typeface="Arial"/>
                        </a:rPr>
                        <a:t>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7" name="Google Shape;127;g3773c057b46_0_11"/>
          <p:cNvSpPr txBox="1"/>
          <p:nvPr/>
        </p:nvSpPr>
        <p:spPr>
          <a:xfrm>
            <a:off x="111095" y="362447"/>
            <a:ext cx="33492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Seared Char Siu Pork</a:t>
            </a:r>
            <a:endParaRPr b="0" i="0" sz="2400" u="none" cap="none" strike="noStrike">
              <a:solidFill>
                <a:srgbClr val="FFC000"/>
              </a:solidFill>
              <a:latin typeface="Meiryo"/>
              <a:ea typeface="Meiryo"/>
              <a:cs typeface="Meiryo"/>
              <a:sym typeface="Meiryo"/>
            </a:endParaRPr>
          </a:p>
          <a:p>
            <a:pPr indent="0" lvl="0" marL="0" rtl="0" algn="l">
              <a:spcBef>
                <a:spcPts val="0"/>
              </a:spcBef>
              <a:spcAft>
                <a:spcPts val="0"/>
              </a:spcAft>
              <a:buClr>
                <a:schemeClr val="dk1"/>
              </a:buClr>
              <a:buSzPts val="2400"/>
              <a:buFont typeface="Arial"/>
              <a:buNone/>
            </a:pPr>
            <a:r>
              <a:rPr lang="en-US" sz="1500">
                <a:solidFill>
                  <a:schemeClr val="accent4"/>
                </a:solidFill>
                <a:latin typeface="Meiryo"/>
                <a:ea typeface="Meiryo"/>
                <a:cs typeface="Meiryo"/>
                <a:sym typeface="Meiryo"/>
              </a:rPr>
              <a:t>~Vegetarian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773c057b46_0_22"/>
          <p:cNvSpPr/>
          <p:nvPr/>
        </p:nvSpPr>
        <p:spPr>
          <a:xfrm>
            <a:off x="0" y="1"/>
            <a:ext cx="9144000" cy="68580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下準備</a:t>
            </a:r>
            <a:endParaRPr b="0" i="0" sz="1400" u="none" cap="none" strike="noStrike">
              <a:solidFill>
                <a:srgbClr val="000000"/>
              </a:solidFill>
              <a:latin typeface="Arial"/>
              <a:ea typeface="Arial"/>
              <a:cs typeface="Arial"/>
              <a:sym typeface="Arial"/>
            </a:endParaRPr>
          </a:p>
        </p:txBody>
      </p:sp>
      <p:sp>
        <p:nvSpPr>
          <p:cNvPr id="133" name="Google Shape;133;g3773c057b46_0_22"/>
          <p:cNvSpPr/>
          <p:nvPr/>
        </p:nvSpPr>
        <p:spPr>
          <a:xfrm>
            <a:off x="111095" y="136733"/>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34" name="Google Shape;134;g3773c057b46_0_22"/>
          <p:cNvPicPr preferRelativeResize="0"/>
          <p:nvPr/>
        </p:nvPicPr>
        <p:blipFill rotWithShape="1">
          <a:blip r:embed="rId3">
            <a:alphaModFix/>
          </a:blip>
          <a:srcRect b="0" l="0" r="0" t="0"/>
          <a:stretch/>
        </p:blipFill>
        <p:spPr>
          <a:xfrm>
            <a:off x="8278310" y="6066692"/>
            <a:ext cx="455921" cy="478630"/>
          </a:xfrm>
          <a:prstGeom prst="rect">
            <a:avLst/>
          </a:prstGeom>
          <a:noFill/>
          <a:ln>
            <a:noFill/>
          </a:ln>
        </p:spPr>
      </p:pic>
      <p:sp>
        <p:nvSpPr>
          <p:cNvPr id="135" name="Google Shape;135;g3773c057b46_0_22"/>
          <p:cNvSpPr/>
          <p:nvPr/>
        </p:nvSpPr>
        <p:spPr>
          <a:xfrm>
            <a:off x="102549" y="104569"/>
            <a:ext cx="8938800" cy="65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rPr b="0" i="0" lang="en-US" sz="1800" u="none" cap="none" strike="noStrike">
                <a:solidFill>
                  <a:schemeClr val="lt1"/>
                </a:solidFill>
                <a:latin typeface="Meiryo"/>
                <a:ea typeface="Meiryo"/>
                <a:cs typeface="Meiryo"/>
                <a:sym typeface="Meiryo"/>
              </a:rPr>
              <a:t>Plea</a:t>
            </a:r>
            <a:endParaRPr b="0" i="0" sz="1800" u="none" cap="none" strike="noStrike">
              <a:solidFill>
                <a:schemeClr val="lt1"/>
              </a:solidFill>
              <a:latin typeface="Meiryo"/>
              <a:ea typeface="Meiryo"/>
              <a:cs typeface="Meiryo"/>
              <a:sym typeface="Meiryo"/>
            </a:endParaRPr>
          </a:p>
        </p:txBody>
      </p:sp>
      <p:sp>
        <p:nvSpPr>
          <p:cNvPr id="136" name="Google Shape;136;g3773c057b46_0_22"/>
          <p:cNvSpPr/>
          <p:nvPr/>
        </p:nvSpPr>
        <p:spPr>
          <a:xfrm>
            <a:off x="3697381" y="450589"/>
            <a:ext cx="19824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Serves for 2persons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Meiryo"/>
              <a:buNone/>
            </a:pPr>
            <a:r>
              <a:rPr b="0" i="0" lang="en-US" sz="900" u="none" cap="none" strike="noStrike">
                <a:solidFill>
                  <a:schemeClr val="dk1"/>
                </a:solidFill>
                <a:latin typeface="Meiryo"/>
                <a:ea typeface="Meiryo"/>
                <a:cs typeface="Meiryo"/>
                <a:sym typeface="Meiryo"/>
              </a:rPr>
              <a:t>Un-heated Alcohol: None</a:t>
            </a:r>
            <a:endParaRPr b="0" i="0" sz="1800" u="none" cap="none" strike="noStrike">
              <a:solidFill>
                <a:schemeClr val="dk1"/>
              </a:solidFill>
              <a:latin typeface="Meiryo"/>
              <a:ea typeface="Meiryo"/>
              <a:cs typeface="Meiryo"/>
              <a:sym typeface="Meiryo"/>
            </a:endParaRPr>
          </a:p>
        </p:txBody>
      </p:sp>
      <p:sp>
        <p:nvSpPr>
          <p:cNvPr id="137" name="Google Shape;137;g3773c057b46_0_22"/>
          <p:cNvSpPr/>
          <p:nvPr/>
        </p:nvSpPr>
        <p:spPr>
          <a:xfrm>
            <a:off x="3459748" y="1357572"/>
            <a:ext cx="5484900" cy="3539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400" u="none" cap="none" strike="noStrike">
                <a:solidFill>
                  <a:schemeClr val="dk1"/>
                </a:solidFill>
                <a:latin typeface="Meiryo"/>
                <a:ea typeface="Meiryo"/>
                <a:cs typeface="Meiryo"/>
                <a:sym typeface="Meiryo"/>
              </a:rPr>
              <a:t>＜Directions for Topping and Soup＞</a:t>
            </a:r>
            <a:br>
              <a:rPr b="0" i="0" lang="en-US" sz="1050" u="none" cap="none" strike="noStrike">
                <a:solidFill>
                  <a:schemeClr val="dk1"/>
                </a:solidFill>
                <a:latin typeface="Meiryo"/>
                <a:ea typeface="Meiryo"/>
                <a:cs typeface="Meiryo"/>
                <a:sym typeface="Meiryo"/>
              </a:rPr>
            </a:br>
            <a:r>
              <a:rPr b="0" i="0" lang="en-US" sz="1400" u="none" cap="none" strike="noStrike">
                <a:solidFill>
                  <a:srgbClr val="0D0D0D"/>
                </a:solidFill>
                <a:highlight>
                  <a:srgbClr val="FFFFFF"/>
                </a:highlight>
                <a:latin typeface="Arial"/>
                <a:ea typeface="Arial"/>
                <a:cs typeface="Arial"/>
                <a:sym typeface="Arial"/>
              </a:rPr>
              <a:t>1) Cut the cabbage into strips, separating the core and leafy parts. If using raw garlic, grate for use in the soup and mince for topping.</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2) In a large pot, combine sake, mirin, soy sauce, and salt, then bring to a boil to evaporate the alcohol.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3) To the pot from step 2, add garlic, ginger, Chinese soup stock, and water, then bring to a boil.</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4) Once the water is boiling, add the cabbage core and cook for 30 seconds, then add the cabbage leaves and bean sprouts and cook for another 30 seconds before draining them in a colander.</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5) While the noodles are boiling, place lard in each bowl, and pour the soup over them to pre-season.</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6) When the noodles are cooked, divide them into the bowls, and top with cabbage, bean sprouts, the minced garlic for topping, and char siu pork to finish.</a:t>
            </a:r>
            <a:endParaRPr b="0" i="0" sz="1400" u="none" cap="none" strike="noStrike">
              <a:solidFill>
                <a:srgbClr val="0D0D0D"/>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None/>
            </a:pPr>
            <a:r>
              <a:t/>
            </a:r>
            <a:endParaRPr>
              <a:solidFill>
                <a:srgbClr val="0D0D0D"/>
              </a:solidFill>
              <a:highlight>
                <a:srgbClr val="FFFFFF"/>
              </a:highlight>
            </a:endParaRPr>
          </a:p>
          <a:p>
            <a:pPr indent="0" lvl="0" marL="0" marR="0" rtl="0" algn="l">
              <a:lnSpc>
                <a:spcPct val="100000"/>
              </a:lnSpc>
              <a:spcBef>
                <a:spcPts val="0"/>
              </a:spcBef>
              <a:spcAft>
                <a:spcPts val="0"/>
              </a:spcAft>
              <a:buNone/>
            </a:pPr>
            <a:r>
              <a:rPr b="0" i="0" lang="en-US" sz="1400" u="none" cap="none" strike="noStrike">
                <a:solidFill>
                  <a:srgbClr val="0D0D0D"/>
                </a:solidFill>
                <a:highlight>
                  <a:srgbClr val="FFFFFF"/>
                </a:highlight>
                <a:latin typeface="Arial"/>
                <a:ea typeface="Arial"/>
                <a:cs typeface="Arial"/>
                <a:sym typeface="Arial"/>
              </a:rPr>
              <a:t>7) Please sprinkle Ajinomoto to taste.</a:t>
            </a:r>
            <a:endParaRPr b="0" i="0" sz="1400" u="none" cap="none" strike="noStrike">
              <a:solidFill>
                <a:srgbClr val="000000"/>
              </a:solidFill>
              <a:latin typeface="Arial"/>
              <a:ea typeface="Arial"/>
              <a:cs typeface="Arial"/>
              <a:sym typeface="Arial"/>
            </a:endParaRPr>
          </a:p>
        </p:txBody>
      </p:sp>
      <p:graphicFrame>
        <p:nvGraphicFramePr>
          <p:cNvPr id="138" name="Google Shape;138;g3773c057b46_0_22"/>
          <p:cNvGraphicFramePr/>
          <p:nvPr/>
        </p:nvGraphicFramePr>
        <p:xfrm>
          <a:off x="331884" y="1468646"/>
          <a:ext cx="3000000" cy="3000000"/>
        </p:xfrm>
        <a:graphic>
          <a:graphicData uri="http://schemas.openxmlformats.org/drawingml/2006/table">
            <a:tbl>
              <a:tblPr>
                <a:noFill/>
                <a:tableStyleId>{497B4443-FDAF-4B40-80E9-CCAC54D983FE}</a:tableStyleId>
              </a:tblPr>
              <a:tblGrid>
                <a:gridCol w="1639550"/>
                <a:gridCol w="1267525"/>
              </a:tblGrid>
              <a:tr h="348175">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latin typeface="Calibri"/>
                          <a:ea typeface="Calibri"/>
                          <a:cs typeface="Calibri"/>
                          <a:sym typeface="Calibri"/>
                        </a:rPr>
                        <a:t>Ingredients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Calibri"/>
                        <a:buNone/>
                      </a:pPr>
                      <a:r>
                        <a:rPr b="1" lang="en-US" sz="1400" u="none" cap="none" strike="noStrike">
                          <a:solidFill>
                            <a:schemeClr val="dk1"/>
                          </a:solidFill>
                        </a:rPr>
                        <a:t>Quantity</a:t>
                      </a:r>
                      <a:endParaRPr b="1"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lang="en-US" sz="1100" u="none" cap="none" strike="noStrike">
                          <a:latin typeface="Arial"/>
                          <a:ea typeface="Arial"/>
                          <a:cs typeface="Arial"/>
                          <a:sym typeface="Arial"/>
                        </a:rPr>
                        <a:t>● Topping</a:t>
                      </a:r>
                      <a:endParaRPr b="0"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000000"/>
                          </a:solidFill>
                          <a:latin typeface="Arial"/>
                          <a:ea typeface="Arial"/>
                          <a:cs typeface="Arial"/>
                          <a:sym typeface="Arial"/>
                        </a:rPr>
                        <a:t>Bean sprouts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Cabbage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b="0" i="0" lang="en-US" sz="1100" u="none" cap="none" strike="noStrike">
                          <a:solidFill>
                            <a:srgbClr val="000000"/>
                          </a:solidFill>
                          <a:latin typeface="Arial"/>
                          <a:ea typeface="Arial"/>
                          <a:cs typeface="Arial"/>
                          <a:sym typeface="Arial"/>
                        </a:rPr>
                        <a:t>250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100" u="none" cap="none" strike="noStrike">
                          <a:latin typeface="Arial"/>
                          <a:ea typeface="Arial"/>
                          <a:cs typeface="Arial"/>
                          <a:sym typeface="Arial"/>
                        </a:rPr>
                        <a:t>20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 Soup</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Sake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30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Mirin</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Soy sauce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100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Salt</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1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Fresh Garlic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Ginger grated or paste (from a tube)</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a:t>Kelp</a:t>
                      </a:r>
                      <a:r>
                        <a:rPr lang="en-US" sz="1100" u="none" cap="none" strike="noStrike">
                          <a:latin typeface="Arial"/>
                          <a:ea typeface="Arial"/>
                          <a:cs typeface="Arial"/>
                          <a:sym typeface="Arial"/>
                        </a:rPr>
                        <a:t> soup sto</a:t>
                      </a:r>
                      <a:r>
                        <a:rPr lang="en-US" sz="1100"/>
                        <a:t>ck</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6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Water</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850 cc</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a:t>Sesame</a:t>
                      </a:r>
                      <a:r>
                        <a:rPr lang="en-US" sz="1100"/>
                        <a:t> oil</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25 g</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5950">
                <a:tc>
                  <a:txBody>
                    <a:bodyPr/>
                    <a:lstStyle/>
                    <a:p>
                      <a:pPr indent="0" lvl="0" marL="0" marR="0" rtl="0" algn="l">
                        <a:lnSpc>
                          <a:spcPct val="100000"/>
                        </a:lnSpc>
                        <a:spcBef>
                          <a:spcPts val="0"/>
                        </a:spcBef>
                        <a:spcAft>
                          <a:spcPts val="0"/>
                        </a:spcAft>
                        <a:buClr>
                          <a:schemeClr val="dk1"/>
                        </a:buClr>
                        <a:buSzPts val="1100"/>
                        <a:buFont typeface="Arial"/>
                        <a:buNone/>
                      </a:pPr>
                      <a:r>
                        <a:rPr lang="en-US" sz="1100" u="none" cap="none" strike="noStrike">
                          <a:latin typeface="Arial"/>
                          <a:ea typeface="Arial"/>
                          <a:cs typeface="Arial"/>
                          <a:sym typeface="Arial"/>
                        </a:rPr>
                        <a:t>Ajinomoto</a:t>
                      </a:r>
                      <a:endParaRPr sz="1100" u="none" cap="none" strike="noStrike">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lang="en-US" sz="1100" u="none" cap="none" strike="noStrike">
                          <a:latin typeface="Arial"/>
                          <a:ea typeface="Arial"/>
                          <a:cs typeface="Arial"/>
                          <a:sym typeface="Arial"/>
                        </a:rPr>
                        <a:t>To taste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39" name="Google Shape;139;g3773c057b46_0_22"/>
          <p:cNvSpPr txBox="1"/>
          <p:nvPr/>
        </p:nvSpPr>
        <p:spPr>
          <a:xfrm>
            <a:off x="111095" y="362447"/>
            <a:ext cx="3586200" cy="78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C000"/>
                </a:solidFill>
                <a:latin typeface="Meiryo"/>
                <a:ea typeface="Meiryo"/>
                <a:cs typeface="Meiryo"/>
                <a:sym typeface="Meiryo"/>
              </a:rPr>
              <a:t>Handmade　Ramen ②</a:t>
            </a:r>
            <a:endParaRPr b="0" i="0" sz="2400" u="none" cap="none" strike="noStrike">
              <a:solidFill>
                <a:srgbClr val="FFC000"/>
              </a:solidFill>
              <a:latin typeface="Meiryo"/>
              <a:ea typeface="Meiryo"/>
              <a:cs typeface="Meiryo"/>
              <a:sym typeface="Meiryo"/>
            </a:endParaRPr>
          </a:p>
          <a:p>
            <a:pPr indent="0" lvl="0" marL="0" rtl="0" algn="l">
              <a:spcBef>
                <a:spcPts val="0"/>
              </a:spcBef>
              <a:spcAft>
                <a:spcPts val="0"/>
              </a:spcAft>
              <a:buClr>
                <a:schemeClr val="dk1"/>
              </a:buClr>
              <a:buSzPts val="2400"/>
              <a:buFont typeface="Arial"/>
              <a:buNone/>
            </a:pPr>
            <a:r>
              <a:rPr lang="en-US" sz="1500">
                <a:solidFill>
                  <a:schemeClr val="accent4"/>
                </a:solidFill>
                <a:latin typeface="Meiryo"/>
                <a:ea typeface="Meiryo"/>
                <a:cs typeface="Meiryo"/>
                <a:sym typeface="Meiryo"/>
              </a:rPr>
              <a:t>~Vegetarian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b86a5d910_0_0"/>
          <p:cNvSpPr txBox="1"/>
          <p:nvPr>
            <p:ph type="title"/>
          </p:nvPr>
        </p:nvSpPr>
        <p:spPr>
          <a:xfrm>
            <a:off x="628650" y="365126"/>
            <a:ext cx="78867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45" name="Google Shape;145;g37b86a5d910_0_0"/>
          <p:cNvSpPr txBox="1"/>
          <p:nvPr>
            <p:ph idx="1" type="body"/>
          </p:nvPr>
        </p:nvSpPr>
        <p:spPr>
          <a:xfrm>
            <a:off x="628650" y="1825625"/>
            <a:ext cx="2574300" cy="38814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t/>
            </a:r>
            <a:endParaRPr sz="1100">
              <a:solidFill>
                <a:srgbClr val="000000"/>
              </a:solidFill>
              <a:latin typeface="Arial"/>
              <a:ea typeface="Arial"/>
              <a:cs typeface="Arial"/>
              <a:sym typeface="Arial"/>
            </a:endParaRPr>
          </a:p>
          <a:p>
            <a:pPr indent="0" lvl="0" marL="0" rtl="0" algn="l">
              <a:spcBef>
                <a:spcPts val="1000"/>
              </a:spcBef>
              <a:spcAft>
                <a:spcPts val="0"/>
              </a:spcAft>
              <a:buNone/>
            </a:pPr>
            <a:r>
              <a:t/>
            </a:r>
            <a:endParaRPr/>
          </a:p>
        </p:txBody>
      </p:sp>
      <p:sp>
        <p:nvSpPr>
          <p:cNvPr id="146" name="Google Shape;146;g37b86a5d910_0_0"/>
          <p:cNvSpPr txBox="1"/>
          <p:nvPr/>
        </p:nvSpPr>
        <p:spPr>
          <a:xfrm>
            <a:off x="3969575" y="2049325"/>
            <a:ext cx="520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2018-10-12T12:28:13Z</dcterms:created>
  <dc:creator>Yuko Ohashi</dc:creator>
</cp:coreProperties>
</file>